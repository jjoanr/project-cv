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i8jTlVjLeHuaNefWWJ1Q96aV6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9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7a79076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g3f7a790762b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7a790762b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10f83bfb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e10f83bfb8_0_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e10f83bfb8_0_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02920" y="4114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CV MASTER FIB · UPC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02920" y="960120"/>
            <a:ext cx="84124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18288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5200"/>
              <a:buFont typeface="Arial Black"/>
              <a:buNone/>
            </a:pPr>
            <a:r>
              <a:rPr lang="en-US" sz="5200" b="1" i="0" u="none" strike="noStrike" cap="none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Short Project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27889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Guidelines, Phases &amp; Project Types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48280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Academic Year Spring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0" y="4846320"/>
            <a:ext cx="164592" cy="16459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092440" y="484632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412480" y="4846320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28600" y="137160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CV Short Project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28600" y="3246120"/>
            <a:ext cx="216594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246120" y="41148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CV Short Project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46120" y="1005840"/>
            <a:ext cx="5577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hands-on group project where teams apply Computer Vision techniques to solve real problems, explore new ideas, or push creative boundaries.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46120" y="2011680"/>
            <a:ext cx="178308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246120" y="2011680"/>
            <a:ext cx="178308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246120" y="21488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Teams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46120" y="2487168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1, 2 students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 group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(the old groups or new groups)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166360" y="2011680"/>
            <a:ext cx="178308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166360" y="2011680"/>
            <a:ext cx="17830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166360" y="21488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166360" y="2487168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Computer Vision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project 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086600" y="2011680"/>
            <a:ext cx="178308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86600" y="2011680"/>
            <a:ext cx="17830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086600" y="21488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086600" y="2487168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Analysis, report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&amp; presentation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46120" y="3749040"/>
            <a:ext cx="5577840" cy="914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429000" y="384048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short project is your chance to demonstrate applied Computer Vision skills, combining theory with practice in a focused, creative context.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FOUR PHASES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029200" y="228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Your journey from idea to final presentation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20040" y="1006379"/>
            <a:ext cx="2697600" cy="3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20040" y="1006379"/>
            <a:ext cx="2697600" cy="502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29768" y="1024667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84632" y="1573307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1D4ED8"/>
                </a:solidFill>
                <a:latin typeface="Arial Black"/>
                <a:ea typeface="Arial Black"/>
                <a:cs typeface="Arial Black"/>
                <a:sym typeface="Arial Black"/>
              </a:rPr>
              <a:t>Project Definition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84632" y="1939067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Short Project Definition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84632" y="2286539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Select a project type &amp; topic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goals and scope clearly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Form your team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Submit project proposal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0" y="1006379"/>
            <a:ext cx="2697600" cy="3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00400" y="1006379"/>
            <a:ext cx="2697600" cy="502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310128" y="1024667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364992" y="1573307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Checkpoint 50%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364992" y="1939067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Mid-point Check-in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364992" y="2286539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Present work progress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Adjust scope if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Validate methodology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080760" y="1006379"/>
            <a:ext cx="2697600" cy="3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080760" y="1006379"/>
            <a:ext cx="2697600" cy="502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190488" y="1024667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245352" y="1573307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Final Presentation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245352" y="1939067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 Showcase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236202" y="2272826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Present results &amp; findings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Live Q&amp;A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Submit final report &amp; ppt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3017520" y="2835179"/>
            <a:ext cx="137100" cy="0"/>
          </a:xfrm>
          <a:prstGeom prst="straightConnector1">
            <a:avLst/>
          </a:prstGeom>
          <a:noFill/>
          <a:ln w="25400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4" name="Google Shape;74;p3"/>
          <p:cNvCxnSpPr/>
          <p:nvPr/>
        </p:nvCxnSpPr>
        <p:spPr>
          <a:xfrm>
            <a:off x="5897880" y="2835179"/>
            <a:ext cx="137100" cy="0"/>
          </a:xfrm>
          <a:prstGeom prst="straightConnector1">
            <a:avLst/>
          </a:prstGeom>
          <a:noFill/>
          <a:ln w="25400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5" name="Google Shape;75;p3"/>
          <p:cNvSpPr/>
          <p:nvPr/>
        </p:nvSpPr>
        <p:spPr>
          <a:xfrm>
            <a:off x="6080760" y="4594860"/>
            <a:ext cx="26974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217920" y="461772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6650950" y="46693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Peer to peer evaluation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57200" y="228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Arial Black"/>
              <a:buNone/>
            </a:pPr>
            <a:r>
              <a:rPr lang="en-US" sz="3000" b="1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Short Project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starting point — define your vision before building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1737360"/>
            <a:ext cx="3840480" cy="301752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57200" y="1737360"/>
            <a:ext cx="38404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0080" y="1783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1D4ED8"/>
                </a:solidFill>
                <a:latin typeface="Arial Black"/>
                <a:ea typeface="Arial Black"/>
                <a:cs typeface="Arial Black"/>
                <a:sym typeface="Arial Black"/>
              </a:rPr>
              <a:t>What to Submit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224028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Project title and team members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Problem statement and motivation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Chosen project type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Proposed CV techniques/methods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Dataset(s) to be used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Expected outcomes and deliverables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46320" y="1737360"/>
            <a:ext cx="3840480" cy="30175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846320" y="1737360"/>
            <a:ext cx="38404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Tips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47275" y="2240275"/>
            <a:ext cx="36360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Be specific — vague proposals are harder to evaluate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Choose a scope that is challenging but feasible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Align your topic with available datasets &amp; CP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Discuss your idea with 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Consider novelty </a:t>
            </a:r>
            <a:endParaRPr sz="1200">
              <a:solidFill>
                <a:srgbClr val="E0F2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200">
              <a:solidFill>
                <a:srgbClr val="E0F2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57200" y="228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Arial Black"/>
              <a:buNone/>
            </a:pPr>
            <a:r>
              <a:rPr lang="en-US" sz="3000" b="1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Checkpoint — 50%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Mid-point evaluation to validate progress and recalibrate direction.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1691640"/>
            <a:ext cx="8229600" cy="228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1691640"/>
            <a:ext cx="41148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57200" y="1920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749040" y="1920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50% — You are here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595360" y="19202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2331720"/>
            <a:ext cx="1920240" cy="246888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57200" y="2331720"/>
            <a:ext cx="19202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57200" y="23500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Present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8640" y="278892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Intermediate results, partial implementation, and initial findings.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560320" y="2331720"/>
            <a:ext cx="1920240" cy="246888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2560320" y="2331720"/>
            <a:ext cx="1920240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2560320" y="23500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Pipeline Design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651760" y="278892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Project scheme, components, partial results...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663440" y="2331720"/>
            <a:ext cx="1920240" cy="246888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663440" y="2331720"/>
            <a:ext cx="192024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663440" y="23500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Receive Feedback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754880" y="278892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Get actionable guidance to improve methodology, scope, or direction.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766560" y="2331720"/>
            <a:ext cx="1920240" cy="246888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766560" y="2331720"/>
            <a:ext cx="192024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766560" y="23500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Adjust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58000" y="278892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Refine goals, fix issues early, and plan the remaining 50% with confidence.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57200" y="228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lang="en-US" sz="30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Final Presentation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Showcase your full work — results, insights, and lessons learned.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Structure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217627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57200" y="219456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960120" y="217627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 Motivation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520440" y="217627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problem? Why?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6"/>
          <p:cNvCxnSpPr/>
          <p:nvPr/>
        </p:nvCxnSpPr>
        <p:spPr>
          <a:xfrm>
            <a:off x="630936" y="2523744"/>
            <a:ext cx="0" cy="182880"/>
          </a:xfrm>
          <a:prstGeom prst="straightConnector1">
            <a:avLst/>
          </a:prstGeom>
          <a:noFill/>
          <a:ln w="12700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0" name="Google Shape;140;p6"/>
          <p:cNvSpPr/>
          <p:nvPr/>
        </p:nvSpPr>
        <p:spPr>
          <a:xfrm>
            <a:off x="457200" y="270662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57200" y="2724912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60120" y="270662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520440" y="270662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Techniques, architecture, dataset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630936" y="3054096"/>
            <a:ext cx="0" cy="182880"/>
          </a:xfrm>
          <a:prstGeom prst="straightConnector1">
            <a:avLst/>
          </a:prstGeom>
          <a:noFill/>
          <a:ln w="12700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5" name="Google Shape;145;p6"/>
          <p:cNvSpPr/>
          <p:nvPr/>
        </p:nvSpPr>
        <p:spPr>
          <a:xfrm>
            <a:off x="457200" y="323697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57200" y="325526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60120" y="323697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520440" y="323697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Metrics, visualisations, comparisons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>
            <a:off x="630936" y="3584448"/>
            <a:ext cx="0" cy="182880"/>
          </a:xfrm>
          <a:prstGeom prst="straightConnector1">
            <a:avLst/>
          </a:prstGeom>
          <a:noFill/>
          <a:ln w="12700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0" name="Google Shape;150;p6"/>
          <p:cNvSpPr/>
          <p:nvPr/>
        </p:nvSpPr>
        <p:spPr>
          <a:xfrm>
            <a:off x="457200" y="3767328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57200" y="378561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60120" y="376732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520440" y="376732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Findings, limitations, future 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>
            <a:off x="630936" y="4114800"/>
            <a:ext cx="0" cy="182880"/>
          </a:xfrm>
          <a:prstGeom prst="straightConnector1">
            <a:avLst/>
          </a:prstGeom>
          <a:noFill/>
          <a:ln w="12700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5" name="Google Shape;155;p6"/>
          <p:cNvSpPr/>
          <p:nvPr/>
        </p:nvSpPr>
        <p:spPr>
          <a:xfrm>
            <a:off x="457200" y="429768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57200" y="431596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960120" y="429768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&amp; Q&amp;A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520440" y="42976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showcase and questions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212080" y="1691640"/>
            <a:ext cx="3474720" cy="31546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394960" y="1783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Evaluation Criteria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394960" y="2286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quality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94960" y="2542032"/>
            <a:ext cx="265176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394960" y="2542032"/>
            <a:ext cx="928116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8092440" y="22860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394960" y="28803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Clarity of presentation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394960" y="3136392"/>
            <a:ext cx="265176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394960" y="3136392"/>
            <a:ext cx="5303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8092440" y="28803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394960" y="3474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analysis depth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394960" y="3730752"/>
            <a:ext cx="265176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5394960" y="3730752"/>
            <a:ext cx="66294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8092440" y="347472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394960" y="4069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Creativity &amp; novelty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394960" y="4325112"/>
            <a:ext cx="265176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394960" y="4325112"/>
            <a:ext cx="5303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8092440" y="40690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FOUR PROJECT TYPES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029200" y="228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Choose the track that best fits your interests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74320" y="1051560"/>
            <a:ext cx="2029968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274320" y="1051560"/>
            <a:ext cx="2029968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274320" y="1078992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68680" y="1097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Productivity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68680" y="13898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tools that work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84048" y="1954500"/>
            <a:ext cx="18105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Create CV systems that solve real-world efficiency problems. Focus on deployment, performance, and practical impact.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450592" y="1051560"/>
            <a:ext cx="2029968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2450592" y="1051560"/>
            <a:ext cx="2029968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450592" y="1078992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🔭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044952" y="1097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Exploration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044952" y="13898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 new frontiers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560332" y="2040900"/>
            <a:ext cx="18105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Investigate novel techniques, models, or datasets. Emphasise novelty, and understanding. Make the contribution understandable for us.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26864" y="1051560"/>
            <a:ext cx="2029968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626864" y="1051560"/>
            <a:ext cx="2029968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626864" y="1078992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221224" y="1097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Analytic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221224" y="13898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 through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736592" y="1828800"/>
            <a:ext cx="181051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CV to extract insights from visual data. Combine quantitative analysis with visual understanding…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803136" y="1051560"/>
            <a:ext cx="2029968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803136" y="1051560"/>
            <a:ext cx="2029968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803136" y="1078992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397496" y="1097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Crazy Ideas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397496" y="13898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Push the boundaries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912864" y="1828800"/>
            <a:ext cx="181051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Take risk. Dream big and experiment boldly. Unconventional architectures, creative uses of Computer Vision...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TYPE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40080" y="6400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Arial Black"/>
              <a:buNone/>
            </a:pPr>
            <a:r>
              <a:rPr lang="en-US" sz="3400" b="1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Productivity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Focus on building efficient, deployable CV systems with real-world impact.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Key Characteristics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" y="224028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Performance-oriented: speed, accuracy, and reliability matter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Real or realistic datasets that reflect deployment conditions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End-to-end pipeline: preprocessing → model → output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Clear metric definition and evaluation protocol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Optional: web demo, API, or integration with other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Project Ideas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937760" y="2240280"/>
            <a:ext cx="3749040" cy="34747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937760" y="2240280"/>
            <a:ext cx="7315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120640" y="226771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….?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903720" y="320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903720" y="3200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⚙ Productivity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0" y="0"/>
            <a:ext cx="429768" cy="5143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710491" y="170939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800"/>
              <a:buFont typeface="Arial Black"/>
              <a:buNone/>
            </a:pPr>
            <a:r>
              <a:rPr lang="en-US" sz="3800" b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Face Recognition</a:t>
            </a:r>
            <a:endParaRPr sz="3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10491" y="875027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3800"/>
              <a:buFont typeface="Arial Black"/>
              <a:buNone/>
            </a:pPr>
            <a:r>
              <a:rPr lang="en-US" sz="38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for Access Control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02920" y="263347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real-time Computer Vision system for secure, contactless identity verification.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02920" y="3383280"/>
            <a:ext cx="1664208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02920" y="3383280"/>
            <a:ext cx="166420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29775" y="3474725"/>
            <a:ext cx="1806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Image Acquisition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02920" y="3794653"/>
            <a:ext cx="1664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331720" y="3383280"/>
            <a:ext cx="1664208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2331720" y="3383280"/>
            <a:ext cx="166420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2331720" y="347472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331720" y="3767328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160520" y="3383280"/>
            <a:ext cx="1664208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160520" y="3383280"/>
            <a:ext cx="166420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160520" y="3506533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Face Recognition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160520" y="3794653"/>
            <a:ext cx="1664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748272" y="896112"/>
            <a:ext cx="950976" cy="950976"/>
          </a:xfrm>
          <a:prstGeom prst="ellipse">
            <a:avLst/>
          </a:prstGeom>
          <a:solidFill>
            <a:srgbClr val="1E2D40"/>
          </a:solidFill>
          <a:ln w="5715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7071604" y="1286012"/>
            <a:ext cx="104607" cy="104607"/>
          </a:xfrm>
          <a:prstGeom prst="ellipse">
            <a:avLst/>
          </a:prstGeom>
          <a:solidFill>
            <a:srgbClr val="16A34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7271309" y="1286012"/>
            <a:ext cx="104607" cy="104607"/>
          </a:xfrm>
          <a:prstGeom prst="ellipse">
            <a:avLst/>
          </a:prstGeom>
          <a:solidFill>
            <a:srgbClr val="16A34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7946136" y="585216"/>
            <a:ext cx="658368" cy="658368"/>
          </a:xfrm>
          <a:prstGeom prst="ellipse">
            <a:avLst/>
          </a:prstGeom>
          <a:solidFill>
            <a:srgbClr val="1E2D40"/>
          </a:solidFill>
          <a:ln w="254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169981" y="855147"/>
            <a:ext cx="72420" cy="72420"/>
          </a:xfrm>
          <a:prstGeom prst="ellipse">
            <a:avLst/>
          </a:prstGeom>
          <a:solidFill>
            <a:srgbClr val="06B6D4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308238" y="855147"/>
            <a:ext cx="72420" cy="72420"/>
          </a:xfrm>
          <a:prstGeom prst="ellipse">
            <a:avLst/>
          </a:prstGeom>
          <a:solidFill>
            <a:srgbClr val="06B6D4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479792" y="2039112"/>
            <a:ext cx="585216" cy="585216"/>
          </a:xfrm>
          <a:prstGeom prst="ellipse">
            <a:avLst/>
          </a:prstGeom>
          <a:solidFill>
            <a:srgbClr val="1E2D40"/>
          </a:solidFill>
          <a:ln w="5715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7678765" y="2279051"/>
            <a:ext cx="64374" cy="64374"/>
          </a:xfrm>
          <a:prstGeom prst="ellipse">
            <a:avLst/>
          </a:prstGeom>
          <a:solidFill>
            <a:srgbClr val="16A34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7801661" y="2279051"/>
            <a:ext cx="64374" cy="64374"/>
          </a:xfrm>
          <a:prstGeom prst="ellipse">
            <a:avLst/>
          </a:prstGeom>
          <a:solidFill>
            <a:srgbClr val="16A34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8183880" y="1737360"/>
            <a:ext cx="731520" cy="731520"/>
          </a:xfrm>
          <a:prstGeom prst="ellipse">
            <a:avLst/>
          </a:prstGeom>
          <a:solidFill>
            <a:srgbClr val="1E2D40"/>
          </a:solidFill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8432597" y="2037283"/>
            <a:ext cx="80467" cy="80467"/>
          </a:xfrm>
          <a:prstGeom prst="ellipse">
            <a:avLst/>
          </a:prstGeom>
          <a:solidFill>
            <a:srgbClr val="334155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8586216" y="2037283"/>
            <a:ext cx="80467" cy="80467"/>
          </a:xfrm>
          <a:prstGeom prst="ellipse">
            <a:avLst/>
          </a:prstGeom>
          <a:solidFill>
            <a:srgbClr val="334155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9" name="Google Shape;259;p9"/>
          <p:cNvCxnSpPr/>
          <p:nvPr/>
        </p:nvCxnSpPr>
        <p:spPr>
          <a:xfrm>
            <a:off x="6766560" y="548640"/>
            <a:ext cx="2194560" cy="0"/>
          </a:xfrm>
          <a:prstGeom prst="straightConnector1">
            <a:avLst/>
          </a:prstGeom>
          <a:noFill/>
          <a:ln w="9525" cap="flat" cmpd="sng">
            <a:solidFill>
              <a:srgbClr val="16A34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0" name="Google Shape;260;p9"/>
          <p:cNvCxnSpPr/>
          <p:nvPr/>
        </p:nvCxnSpPr>
        <p:spPr>
          <a:xfrm>
            <a:off x="6766560" y="1051560"/>
            <a:ext cx="2194560" cy="0"/>
          </a:xfrm>
          <a:prstGeom prst="straightConnector1">
            <a:avLst/>
          </a:prstGeom>
          <a:noFill/>
          <a:ln w="9525" cap="flat" cmpd="sng">
            <a:solidFill>
              <a:srgbClr val="16A34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61;p9"/>
          <p:cNvCxnSpPr/>
          <p:nvPr/>
        </p:nvCxnSpPr>
        <p:spPr>
          <a:xfrm>
            <a:off x="6766560" y="1554480"/>
            <a:ext cx="2194560" cy="0"/>
          </a:xfrm>
          <a:prstGeom prst="straightConnector1">
            <a:avLst/>
          </a:prstGeom>
          <a:noFill/>
          <a:ln w="9525" cap="flat" cmpd="sng">
            <a:solidFill>
              <a:srgbClr val="16A34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" name="Google Shape;262;p9"/>
          <p:cNvCxnSpPr/>
          <p:nvPr/>
        </p:nvCxnSpPr>
        <p:spPr>
          <a:xfrm>
            <a:off x="6766560" y="2057400"/>
            <a:ext cx="2194560" cy="0"/>
          </a:xfrm>
          <a:prstGeom prst="straightConnector1">
            <a:avLst/>
          </a:prstGeom>
          <a:noFill/>
          <a:ln w="9525" cap="flat" cmpd="sng">
            <a:solidFill>
              <a:srgbClr val="16A34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9"/>
          <p:cNvCxnSpPr/>
          <p:nvPr/>
        </p:nvCxnSpPr>
        <p:spPr>
          <a:xfrm>
            <a:off x="6766560" y="2560320"/>
            <a:ext cx="2194560" cy="0"/>
          </a:xfrm>
          <a:prstGeom prst="straightConnector1">
            <a:avLst/>
          </a:prstGeom>
          <a:noFill/>
          <a:ln w="9525" cap="flat" cmpd="sng">
            <a:solidFill>
              <a:srgbClr val="16A34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4" name="Google Shape;264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02920" y="48280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Computer Vision Short Project  ·  Master FIB UPC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7a790762b_0_0"/>
          <p:cNvSpPr/>
          <p:nvPr/>
        </p:nvSpPr>
        <p:spPr>
          <a:xfrm>
            <a:off x="0" y="0"/>
            <a:ext cx="429900" cy="5143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f7a790762b_0_0"/>
          <p:cNvSpPr/>
          <p:nvPr/>
        </p:nvSpPr>
        <p:spPr>
          <a:xfrm>
            <a:off x="710491" y="170939"/>
            <a:ext cx="5486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800"/>
              <a:buFont typeface="Arial Black"/>
              <a:buNone/>
            </a:pPr>
            <a:r>
              <a:rPr lang="en-US" sz="3800" b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Gesture based HCI </a:t>
            </a:r>
            <a:endParaRPr sz="3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7a790762b_0_0"/>
          <p:cNvSpPr/>
          <p:nvPr/>
        </p:nvSpPr>
        <p:spPr>
          <a:xfrm>
            <a:off x="744475" y="1042750"/>
            <a:ext cx="8157000" cy="8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3800"/>
              <a:buFont typeface="Arial Black"/>
              <a:buNone/>
            </a:pPr>
            <a:r>
              <a:rPr lang="en-US" sz="38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for camera point of view control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7a790762b_0_0"/>
          <p:cNvSpPr/>
          <p:nvPr/>
        </p:nvSpPr>
        <p:spPr>
          <a:xfrm>
            <a:off x="1374045" y="2663772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real-time Computer Vision system for POV control in 3D virtual scenarios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7a790762b_0_0"/>
          <p:cNvSpPr/>
          <p:nvPr/>
        </p:nvSpPr>
        <p:spPr>
          <a:xfrm>
            <a:off x="1374045" y="3413580"/>
            <a:ext cx="1664100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f7a790762b_0_0"/>
          <p:cNvSpPr/>
          <p:nvPr/>
        </p:nvSpPr>
        <p:spPr>
          <a:xfrm>
            <a:off x="1374045" y="3413580"/>
            <a:ext cx="1664100" cy="639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f7a790762b_0_0"/>
          <p:cNvSpPr/>
          <p:nvPr/>
        </p:nvSpPr>
        <p:spPr>
          <a:xfrm>
            <a:off x="1374045" y="3523420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Hand and face</a:t>
            </a:r>
            <a:endParaRPr sz="1300" b="1">
              <a:solidFill>
                <a:srgbClr val="16A34A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detection</a:t>
            </a:r>
            <a:endParaRPr sz="1300" b="1">
              <a:solidFill>
                <a:srgbClr val="16A34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3" name="Google Shape;333;g3f7a790762b_0_0"/>
          <p:cNvSpPr/>
          <p:nvPr/>
        </p:nvSpPr>
        <p:spPr>
          <a:xfrm>
            <a:off x="1374045" y="3797628"/>
            <a:ext cx="1664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7a790762b_0_0"/>
          <p:cNvSpPr/>
          <p:nvPr/>
        </p:nvSpPr>
        <p:spPr>
          <a:xfrm>
            <a:off x="3202845" y="3413580"/>
            <a:ext cx="1664100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f7a790762b_0_0"/>
          <p:cNvSpPr/>
          <p:nvPr/>
        </p:nvSpPr>
        <p:spPr>
          <a:xfrm>
            <a:off x="3202845" y="3413580"/>
            <a:ext cx="1664100" cy="639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f7a790762b_0_0"/>
          <p:cNvSpPr/>
          <p:nvPr/>
        </p:nvSpPr>
        <p:spPr>
          <a:xfrm>
            <a:off x="3202845" y="3505020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Gesture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7a790762b_0_0"/>
          <p:cNvSpPr/>
          <p:nvPr/>
        </p:nvSpPr>
        <p:spPr>
          <a:xfrm>
            <a:off x="3202845" y="3797628"/>
            <a:ext cx="1664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Detection and tracking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7a790762b_0_0"/>
          <p:cNvSpPr/>
          <p:nvPr/>
        </p:nvSpPr>
        <p:spPr>
          <a:xfrm>
            <a:off x="5031645" y="3413580"/>
            <a:ext cx="1664100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80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f7a790762b_0_0"/>
          <p:cNvSpPr/>
          <p:nvPr/>
        </p:nvSpPr>
        <p:spPr>
          <a:xfrm>
            <a:off x="5031645" y="3413580"/>
            <a:ext cx="1664100" cy="639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f7a790762b_0_0"/>
          <p:cNvSpPr/>
          <p:nvPr/>
        </p:nvSpPr>
        <p:spPr>
          <a:xfrm>
            <a:off x="5031645" y="3505020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 Black"/>
              <a:buNone/>
            </a:pPr>
            <a:r>
              <a:rPr lang="en-US" sz="1300" b="1">
                <a:solidFill>
                  <a:srgbClr val="16A34A"/>
                </a:solidFill>
                <a:latin typeface="Arial Black"/>
                <a:ea typeface="Arial Black"/>
                <a:cs typeface="Arial Black"/>
                <a:sym typeface="Arial Black"/>
              </a:rPr>
              <a:t>POV Control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7a790762b_0_0"/>
          <p:cNvSpPr/>
          <p:nvPr/>
        </p:nvSpPr>
        <p:spPr>
          <a:xfrm>
            <a:off x="5031645" y="3797628"/>
            <a:ext cx="1664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3D Rendering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7a790762b_0_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f7a790762b_0_0"/>
          <p:cNvSpPr/>
          <p:nvPr/>
        </p:nvSpPr>
        <p:spPr>
          <a:xfrm>
            <a:off x="502920" y="482803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Computer Vision Short Project  ·  Master FIB UPC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TYPE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40080" y="6400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Arial Black"/>
              <a:buNone/>
            </a:pPr>
            <a:r>
              <a:rPr lang="en-US" sz="3400" b="1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Exploration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Investigate, benchmark, and understand novel methods or emerging research directions.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Key Characteristics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640050" y="2267700"/>
            <a:ext cx="3749100" cy="22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Research-oriented: reproduce, extend, or compare papers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Educational materials for teaching, facilitating the learning process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Exploration of new architectural choices</a:t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Well-documented findings and reproducible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493776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Ideas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937760" y="2240280"/>
            <a:ext cx="3749040" cy="347472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4937760" y="2240280"/>
            <a:ext cx="7315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5120640" y="226771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IEEE/CVF Conference on Computer Vision and Pattern Recognition</a:t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6829384" y="320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6829384" y="3200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🔭 Exploration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4937760" y="2712720"/>
            <a:ext cx="3749040" cy="347472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4937760" y="2712720"/>
            <a:ext cx="7315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5120640" y="274015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IEEE/CVF International Conference on Computer Vision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4937725" y="3212606"/>
            <a:ext cx="3749100" cy="7773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4937721" y="3212606"/>
            <a:ext cx="73200" cy="777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5120690" y="3286177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you missing any important and new CV concepts that were not explained in the subject?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TYPE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40080" y="6400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Arial Black"/>
              <a:buNone/>
            </a:pPr>
            <a:r>
              <a:rPr lang="en-US" sz="3400" b="1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Analytic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 Computer Vision to extract meaningful insights from visual data through deep analysis.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Key Characteristics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640080" y="2240280"/>
            <a:ext cx="3858768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Data-driven: strong quantitative evaluation is central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Visual analytics: combine vision models with data insights</a:t>
            </a:r>
            <a:endParaRPr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Results presented with statistical rigour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Interpretability and explainability valued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93776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Project Ideas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937760" y="2240280"/>
            <a:ext cx="3749040" cy="34747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4937760" y="2240280"/>
            <a:ext cx="7315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120640" y="226771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 filters weights analysis</a:t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6903720" y="320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903720" y="3200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📊 Analytic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4937760" y="3331779"/>
            <a:ext cx="3749040" cy="925145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4937760" y="3331779"/>
            <a:ext cx="73152" cy="9251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5120640" y="3359211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120640" y="3383518"/>
            <a:ext cx="338328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Explainable NN: a "heatmap" over an image, highlighting the regions that were most important for a specific classification.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4937760" y="2775205"/>
            <a:ext cx="3749040" cy="34747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4937760" y="2775205"/>
            <a:ext cx="7315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5120651" y="2802625"/>
            <a:ext cx="3712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for classification vs features for image autoencoding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TYPE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640080" y="6400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lang="en-US" sz="3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Crazy Ideas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40080" y="12801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Unconventional, creative, or artistic applications that explore the unexpected side of CV.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Key Characteristics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40080" y="224028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Originality is the primary evaluation criterion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Failure is acceptable — boldness is rewarded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Why is this idea compelling?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E0F2F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Technical rigour still expected despite creativity focus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93776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Wild Project Ideas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937735" y="2257568"/>
            <a:ext cx="3749100" cy="3474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4937735" y="2257568"/>
            <a:ext cx="73200" cy="347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5120615" y="2285000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New NN architectures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903720" y="1828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6903720" y="18288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🚀 Crazy Ideas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4937760" y="2667966"/>
            <a:ext cx="3749100" cy="3474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4937760" y="2667966"/>
            <a:ext cx="73200" cy="347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5120640" y="2695398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Random Convolutional Filters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937760" y="3105841"/>
            <a:ext cx="3749100" cy="3474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4937760" y="3105841"/>
            <a:ext cx="73200" cy="347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5120640" y="3133273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Random NN connections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937760" y="3571191"/>
            <a:ext cx="3749100" cy="3474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4937760" y="3571191"/>
            <a:ext cx="73200" cy="347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5120640" y="3598623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Atrous NN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13"/>
          <p:cNvPicPr preferRelativeResize="0"/>
          <p:nvPr/>
        </p:nvPicPr>
        <p:blipFill rotWithShape="1">
          <a:blip r:embed="rId3">
            <a:alphaModFix/>
          </a:blip>
          <a:srcRect l="9325" t="2295" r="5205" b="8043"/>
          <a:stretch/>
        </p:blipFill>
        <p:spPr>
          <a:xfrm>
            <a:off x="6969850" y="3981600"/>
            <a:ext cx="1045375" cy="107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825" y="3981598"/>
            <a:ext cx="1064700" cy="10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SUMMARY &amp; TIMELINE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457200" y="2286000"/>
            <a:ext cx="82296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347472" y="2167128"/>
            <a:ext cx="256032" cy="2560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-45720" y="15087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Start</a:t>
            </a:r>
            <a:endParaRPr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-45720" y="1810512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Form teams,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choose type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-45720" y="2542032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Form teams,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choose type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949309" y="2167128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1556117" y="15087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1D4ED8"/>
                </a:solidFill>
                <a:latin typeface="Arial Black"/>
                <a:ea typeface="Arial Black"/>
                <a:cs typeface="Arial Black"/>
                <a:sym typeface="Arial Black"/>
              </a:rPr>
              <a:t>Phase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556117" y="1810512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556117" y="2542032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Delivery 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Next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3639639" y="2184363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3246447" y="1525995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Phase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3246447" y="1827747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3246447" y="2559267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Delivery 2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1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May 26 or 28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5625997" y="2184363"/>
            <a:ext cx="256032" cy="256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5232805" y="1525995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chemeClr val="accent2"/>
                </a:solidFill>
                <a:latin typeface="Arial Black"/>
                <a:ea typeface="Arial Black"/>
                <a:cs typeface="Arial Black"/>
                <a:sym typeface="Arial Black"/>
              </a:rPr>
              <a:t>Phase 3</a:t>
            </a: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936775" y="1810513"/>
            <a:ext cx="15804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Presentation Q&amp;A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 or 18 June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083625" y="2559275"/>
            <a:ext cx="1348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Delivery 3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1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June 15 or June 17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Report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PPT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0F172A"/>
                </a:solidFill>
                <a:latin typeface="Arial Black"/>
                <a:ea typeface="Arial Black"/>
                <a:cs typeface="Arial Black"/>
                <a:sym typeface="Arial Black"/>
              </a:rPr>
              <a:t>Choose your path: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457200" y="3703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457200" y="370332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⚙ Productivity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2606040" y="3703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2606040" y="370332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🔭 Exploration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754880" y="3703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4754880" y="370332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📊 Analytic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6903720" y="3703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6903720" y="370332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🚀 Crazy Ideas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7708392" y="2185416"/>
            <a:ext cx="256032" cy="2560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7287775" y="1544536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Arial Black"/>
              <a:buNone/>
            </a:pPr>
            <a:r>
              <a:rPr lang="en-US" sz="1200" b="1">
                <a:solidFill>
                  <a:srgbClr val="7030A0"/>
                </a:solidFill>
                <a:latin typeface="Arial Black"/>
                <a:ea typeface="Arial Black"/>
                <a:cs typeface="Arial Black"/>
                <a:sym typeface="Arial Black"/>
              </a:rPr>
              <a:t>Phase 4</a:t>
            </a:r>
            <a:endParaRPr sz="12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7172025" y="2494725"/>
            <a:ext cx="1419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Peer to peer  grading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June 22</a:t>
            </a:r>
            <a:endParaRPr sz="1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7287716" y="1821360"/>
            <a:ext cx="10974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Final grade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10f83bfb8_0_11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g3e10f83bfb8_0_11"/>
          <p:cNvSpPr/>
          <p:nvPr/>
        </p:nvSpPr>
        <p:spPr>
          <a:xfrm>
            <a:off x="502920" y="482625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 Black"/>
              <a:buNone/>
            </a:pPr>
            <a:r>
              <a:rPr lang="en-US" sz="28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 coding tools are allowed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e10f83bfb8_0_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3e10f83bfb8_0_11"/>
          <p:cNvSpPr/>
          <p:nvPr/>
        </p:nvSpPr>
        <p:spPr>
          <a:xfrm>
            <a:off x="502920" y="482803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Computer Vision Short Project  ·  Master FIB UPC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e10f83bfb8_0_11"/>
          <p:cNvSpPr/>
          <p:nvPr/>
        </p:nvSpPr>
        <p:spPr>
          <a:xfrm>
            <a:off x="6858000" y="3474720"/>
            <a:ext cx="347400" cy="347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3e10f83bfb8_0_11"/>
          <p:cNvSpPr/>
          <p:nvPr/>
        </p:nvSpPr>
        <p:spPr>
          <a:xfrm>
            <a:off x="7360920" y="3474720"/>
            <a:ext cx="347400" cy="347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3e10f83bfb8_0_11"/>
          <p:cNvSpPr/>
          <p:nvPr/>
        </p:nvSpPr>
        <p:spPr>
          <a:xfrm>
            <a:off x="7863840" y="3474720"/>
            <a:ext cx="347400" cy="347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3e10f83bfb8_0_11"/>
          <p:cNvSpPr/>
          <p:nvPr/>
        </p:nvSpPr>
        <p:spPr>
          <a:xfrm>
            <a:off x="8366760" y="3474720"/>
            <a:ext cx="347400" cy="347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e10f83bfb8_0_11"/>
          <p:cNvSpPr/>
          <p:nvPr/>
        </p:nvSpPr>
        <p:spPr>
          <a:xfrm>
            <a:off x="502920" y="2068788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 Black"/>
              <a:buNone/>
            </a:pPr>
            <a:r>
              <a:rPr lang="en-US" sz="28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Transformers can be used but cannot form the central part of the project.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502920" y="9144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 Black"/>
              <a:buNone/>
            </a:pPr>
            <a:r>
              <a:rPr lang="en-US" sz="5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Good luck!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502920" y="1874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lang="en-US" sz="2200" i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Build something you're proud of.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502920" y="2606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 a project type  </a:t>
            </a:r>
            <a:r>
              <a:rPr lang="en-US" sz="1300" b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Define your idea  </a:t>
            </a:r>
            <a:r>
              <a:rPr lang="en-US" sz="1300" b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Hit your checkpoints  </a:t>
            </a:r>
            <a:r>
              <a:rPr lang="en-US" sz="1300" b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Present with confidence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502920" y="48280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Computer Vision Short Project  ·  Master FIB UPC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6858000" y="3474720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7360920" y="347472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7863840" y="3474720"/>
            <a:ext cx="347472" cy="3474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8366760" y="347472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1045</Words>
  <Application>Microsoft Office PowerPoint</Application>
  <PresentationFormat>Presentació en pantalla (16:9)</PresentationFormat>
  <Paragraphs>248</Paragraphs>
  <Slides>16</Slides>
  <Notes>16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16</vt:i4>
      </vt:variant>
    </vt:vector>
  </HeadingPairs>
  <TitlesOfParts>
    <vt:vector size="20" baseType="lpstr">
      <vt:lpstr>Calibri</vt:lpstr>
      <vt:lpstr>Arial</vt:lpstr>
      <vt:lpstr>Arial Black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manel.frigola@stark.fib.upc.edu</cp:lastModifiedBy>
  <cp:revision>2</cp:revision>
  <dcterms:created xsi:type="dcterms:W3CDTF">2026-05-09T16:08:37Z</dcterms:created>
  <dcterms:modified xsi:type="dcterms:W3CDTF">2026-05-12T11:13:07Z</dcterms:modified>
</cp:coreProperties>
</file>